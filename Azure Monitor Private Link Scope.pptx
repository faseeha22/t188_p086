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us Jakarta Sans"/>
      <ns0:bold ns1:id="rIdFont16"/>
      <ns0:regular ns1:id="rIdFont17"/>
    </ns0:embeddedFont>
    <ns0:embeddedFont>
      <ns0:font typeface="JetBrains Mono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8eae9beb-8832-4b30-80d2-a545c92f064b.fntdata" /><ns0:Relationship Id="rIdFont17" Type="http://schemas.openxmlformats.org/officeDocument/2006/relationships/font" Target="fonts/fcd32119-9aea-44e4-9312-7ae5bac76ba6.fntdata" /><ns0:Relationship Id="rIdFont18" Type="http://schemas.openxmlformats.org/officeDocument/2006/relationships/font" Target="fonts/a5da7cef-14cb-42b2-95e0-843652b0b37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791200"/>
            <a:ext cx="109728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609600"/>
            <a:ext cx="2943225" cy="371475"/>
          </a:xfrm>
          <a:prstGeom prst="roundRect">
            <a:avLst>
              <a:gd name="adj" fmla="val 15384"/>
            </a:avLst>
          </a:prstGeom>
          <a:solidFill>
            <a:srgbClr val="102440"/>
          </a:solidFill>
          <a:ln w="9525">
            <a:solidFill>
              <a:srgbClr val="1435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7912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43612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25" y="6043612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50" y="6043612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85800"/>
            <a:ext cx="27336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JetBrains Mono"/>
              </a:rPr>
              <a:t>PROJECT ID: 24CC3046-P086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8262" y="709612"/>
            <a:ext cx="32337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JetBrains Mono"/>
              </a:rPr>
              <a:t>MONITORING SECURITY &amp;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428875"/>
            <a:ext cx="9301162" cy="1095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b="1" sz="3750" i="0" u="none">
                <a:solidFill>
                  <a:srgbClr val="FFFFFF"/>
                </a:solidFill>
                <a:latin typeface="Plus Jakarta Sans"/>
              </a:rPr>
              <a:t>Azure Monitor Private Link Scope for Isolated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714750"/>
            <a:ext cx="8858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Architecture, Network Isolation, Private DNS Resolution, and Defense Q&amp;A Specifications.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6038850"/>
            <a:ext cx="371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7225" y="6038850"/>
            <a:ext cx="371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6029325"/>
            <a:ext cx="19407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Teams T086 &amp; T188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3275" y="6029325"/>
            <a:ext cx="1181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8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6350" y="6029325"/>
            <a:ext cx="2690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15 Technical Q&amp;A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90787"/>
            <a:ext cx="5334000" cy="2809875"/>
          </a:xfrm>
          <a:prstGeom prst="roundRect">
            <a:avLst>
              <a:gd name="adj" fmla="val 54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490787"/>
            <a:ext cx="5334000" cy="2809875"/>
          </a:xfrm>
          <a:prstGeom prst="roundRect">
            <a:avLst>
              <a:gd name="adj" fmla="val 54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262437"/>
            <a:ext cx="4705350" cy="723900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4262437"/>
            <a:ext cx="4705350" cy="723900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05112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2805112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290036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687" y="2900362"/>
            <a:ext cx="2190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 MODULE 01 &amp; 02 • PROJECT FOUNDATION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Problem Statement &amp; Project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338512"/>
            <a:ext cx="48006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Public Path Elimination: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Route Azure Monitor telemetry through an isolated private network instead of exposing log traffic over the public internet.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338512"/>
            <a:ext cx="48006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Plus Jakarta Sans"/>
              </a:rPr>
              <a:t>Cloud Infrastructure &amp; Security: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Backbone infrastructure project supporting diverse workloads across Web Apps, APIs, Backend Services, VMs, and Databases.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9225" y="2862262"/>
            <a:ext cx="202525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Target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50" y="4424362"/>
            <a:ext cx="4476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Key Goal: Zero public endpoint exposure for sensitive diagnostic and metric logs.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8025" y="2862262"/>
            <a:ext cx="237529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Architecture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4424362"/>
            <a:ext cx="4476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Universally applicable to any Azure resource producing metric or log telemetry.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0325"/>
            <a:ext cx="35052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600325"/>
            <a:ext cx="35052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600325"/>
            <a:ext cx="3505200" cy="25908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765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87655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8765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2990850"/>
            <a:ext cx="2857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637" y="2990850"/>
            <a:ext cx="25717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300" y="2990850"/>
            <a:ext cx="1714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 MODULE 11, 12 &amp; 13 • NETWORK FOUNDATIONS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VNet, Subnet &amp; Private Endpoint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524250"/>
            <a:ext cx="38754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1. Virtual 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886200"/>
            <a:ext cx="3048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Private Boundary: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Establishes the isolated network boundary in Azure hosting workloads and Private Endpoints.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524250"/>
            <a:ext cx="38754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2. Target Subnet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886200"/>
            <a:ext cx="3048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Address Allocation: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Designated IP range within the VNet used explicitly for instantiating Private Endpoint interfaces.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524250"/>
            <a:ext cx="38385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3. Private 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886200"/>
            <a:ext cx="3048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Private IP Interface: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Assigns a local IP address inside your subnet to route Azure Monitor traffic via Private Link.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05037"/>
            <a:ext cx="10972800" cy="180975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243387"/>
            <a:ext cx="10972800" cy="1304925"/>
          </a:xfrm>
          <a:prstGeom prst="roundRect">
            <a:avLst>
              <a:gd name="adj" fmla="val 8759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2481262"/>
            <a:ext cx="3155900" cy="125730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17975" y="2566987"/>
            <a:ext cx="31559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50125" y="2562225"/>
            <a:ext cx="3155900" cy="1095375"/>
          </a:xfrm>
          <a:prstGeom prst="roundRect">
            <a:avLst>
              <a:gd name="adj" fmla="val 10434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125" y="3014662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275" y="3014662"/>
            <a:ext cx="1714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 MODULE 03, 04 &amp; 05 • ARCHITECTURAL MECHANISM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AMPLS &amp; The Public-to-Private Transition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481512"/>
            <a:ext cx="112680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How Public Becomes Private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795837"/>
            <a:ext cx="10439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We do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not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convert the public endpoint directly. Instead, Private DNS intercepts outgoing telemetry queries and resolves standard Azure Monitor service names directly to the Private Endpoint's internal 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837" y="2671762"/>
            <a:ext cx="3563875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3987" y="2757487"/>
            <a:ext cx="3563875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284C7"/>
                </a:solidFill>
                <a:latin typeface="Plus Jakarta Sans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6138" y="2752725"/>
            <a:ext cx="3563875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369A1"/>
                </a:solidFill>
                <a:latin typeface="Plus Jakarta Sans"/>
              </a:rPr>
              <a:t>STEP 3 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248" y="2938462"/>
            <a:ext cx="36170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Define AMPLS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368" y="3195637"/>
            <a:ext cx="344481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Group Log Analytics Workspaces &amp; App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7398" y="3024187"/>
            <a:ext cx="36170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Attach Private 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3519" y="3281362"/>
            <a:ext cx="3444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Bind Subnet IP to AMPLS Resource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9549" y="3028950"/>
            <a:ext cx="36170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Plus Jakarta Sans"/>
              </a:rPr>
              <a:t>Override DNS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5669" y="3286125"/>
            <a:ext cx="3444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369A1"/>
                </a:solidFill>
                <a:latin typeface="Plus Jakarta Sans"/>
              </a:rPr>
              <a:t>Map Monitor FQDNs to Private Endpoint 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4125"/>
            <a:ext cx="5334000" cy="2705100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19362"/>
            <a:ext cx="5334000" cy="2714625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1905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3450" y="4200525"/>
            <a:ext cx="4686300" cy="704850"/>
          </a:xfrm>
          <a:prstGeom prst="roundRect">
            <a:avLst>
              <a:gd name="adj" fmla="val 1081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72250" y="4186237"/>
            <a:ext cx="4686300" cy="723900"/>
          </a:xfrm>
          <a:prstGeom prst="roundRect">
            <a:avLst>
              <a:gd name="adj" fmla="val 10526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2843212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 MODULE 09 &amp; 10 • CRITICAL DEPENDENCY ⭐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Role of Private DNS &amp; Misconfiguration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3267075"/>
            <a:ext cx="478155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Translates global service FQDNs (e.g., 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*.oms.opinsights.azure.com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) to local Private Endpoint IP addresses inside the VNet.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3262312"/>
            <a:ext cx="47815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If DNS zone links are missing or incorrect, queries fall back to public DNS resolvers and route over public internet paths.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2847975"/>
            <a:ext cx="253781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Role of Private DNS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4352925"/>
            <a:ext cx="4476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Guarantees traffic traverses Microsoft internal backbone exclusively.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0" y="2843212"/>
            <a:ext cx="388798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F1239"/>
                </a:solidFill>
                <a:latin typeface="Plus Jakarta Sans"/>
              </a:rPr>
              <a:t>DNS Misconfiguration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4175" y="4348162"/>
            <a:ext cx="44577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F1239"/>
                </a:solidFill>
                <a:latin typeface="Plus Jakarta Sans"/>
              </a:rPr>
              <a:t>Failure: Intended private network isolation is bypassed silently.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43187"/>
            <a:ext cx="3479750" cy="2505075"/>
          </a:xfrm>
          <a:prstGeom prst="roundRect">
            <a:avLst>
              <a:gd name="adj" fmla="val 60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643187"/>
            <a:ext cx="3479750" cy="2505075"/>
          </a:xfrm>
          <a:prstGeom prst="roundRect">
            <a:avLst>
              <a:gd name="adj" fmla="val 60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643187"/>
            <a:ext cx="3479750" cy="2505075"/>
          </a:xfrm>
          <a:prstGeom prst="roundRect">
            <a:avLst>
              <a:gd name="adj" fmla="val 608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1941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29194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8725" y="29194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37" y="3043237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0387" y="3043237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2550" y="3043237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 MODULE 06, 07 &amp; 08 • TELEMETRY &amp; ALERTING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Log Storage, Triggers &amp; Load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529012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Log Analytics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843337"/>
            <a:ext cx="30225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Central Storage: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All monitoring logs, performance metrics, and diagnostic traces are stored securely inside the workspace.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2275" y="3529012"/>
            <a:ext cx="384208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Alert Triggers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275" y="3843337"/>
            <a:ext cx="30225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Rule Evaluation: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Generated when metrics cross thresholds (e.g., CPU &gt; 80% for 5 mins triggers an automated incident alert).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8725" y="3529012"/>
            <a:ext cx="381327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Load &amp; Scaling Separation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8725" y="3843337"/>
            <a:ext cx="302255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Role Division: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Azure Monitor detects load spikes; compute scaling is handled by Azure Virtual Machine Scale Sets or App Service.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7475"/>
            <a:ext cx="5334000" cy="24765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47937"/>
            <a:ext cx="5334000" cy="2695575"/>
          </a:xfrm>
          <a:prstGeom prst="roundRect">
            <a:avLst>
              <a:gd name="adj" fmla="val 56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4314825"/>
            <a:ext cx="4705350" cy="504825"/>
          </a:xfrm>
          <a:prstGeom prst="roundRect">
            <a:avLst>
              <a:gd name="adj" fmla="val 1509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4205287"/>
            <a:ext cx="4705350" cy="723900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7180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2862262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 MODULE 14 &amp; 15 • SECURITY ENFORCEMENT &amp; HA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High Availability &amp; Public Access Lockout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390900"/>
            <a:ext cx="48006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If a Private Endpoint goes down, telemetry ingestion pauses. Production environments require redundant Private Endpoints and active health probes.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281362"/>
            <a:ext cx="48006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Yes: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Public network access can be completely disabled on Log Analytics workspaces once private connectivity and DNS resolution are verified.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4925" y="2971800"/>
            <a:ext cx="35754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Endpoint Failure Resiliency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4467225"/>
            <a:ext cx="5500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Mitigation: Multi-region DNS failover and monitoring alerts.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150" y="2862262"/>
            <a:ext cx="345043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Complete Public Blocking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4367212"/>
            <a:ext cx="4476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Order: Validate private connectivity first, then disable public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3712"/>
            <a:ext cx="2600325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914650"/>
            <a:ext cx="2600325" cy="200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33712"/>
            <a:ext cx="2600325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33712"/>
            <a:ext cx="2600325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0680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 IMPLEMENTATION PLAYBOOK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4-Step AMPLS Implementation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62312"/>
            <a:ext cx="2238375" cy="1304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9025" y="3143250"/>
            <a:ext cx="2238375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STEP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3262312"/>
            <a:ext cx="2238375" cy="1304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STEP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0675" y="3262312"/>
            <a:ext cx="2238375" cy="1304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STEP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86162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Deploy VNet &amp; AMPLS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900487"/>
            <a:ext cx="221932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Provision VNet, subnet, and AMPLS resource container.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467100"/>
            <a:ext cx="2330291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Attach Private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4019550"/>
            <a:ext cx="221932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Assign private IP inside subnet to AMPLS connection.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3586162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Configure Private DNS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900487"/>
            <a:ext cx="221932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Link private DNS zone to VNet to override service FQDNs.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586162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Lock Public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900487"/>
            <a:ext cx="221932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Disable public access once private connectivity is verified.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76650" y="4505325"/>
            <a:ext cx="2000250" cy="381000"/>
          </a:xfrm>
          <a:prstGeom prst="roundRect">
            <a:avLst>
              <a:gd name="adj" fmla="val 20000"/>
            </a:avLst>
          </a:prstGeom>
          <a:solidFill>
            <a:srgbClr val="0E16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29300" y="4505325"/>
            <a:ext cx="2686050" cy="381000"/>
          </a:xfrm>
          <a:prstGeom prst="roundRect">
            <a:avLst>
              <a:gd name="adj" fmla="val 20000"/>
            </a:avLst>
          </a:prstGeom>
          <a:solidFill>
            <a:srgbClr val="0E16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971675"/>
            <a:ext cx="609600" cy="609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3242" y="2847975"/>
            <a:ext cx="11745515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450" i="0" u="none">
                <a:solidFill>
                  <a:srgbClr val="FFFFFF"/>
                </a:solidFill>
                <a:latin typeface="Plus Jakarta Sans"/>
              </a:rPr>
              <a:t>Isolated Telemetry Architecture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1625" y="3552825"/>
            <a:ext cx="9048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Fully equipped with end-to-end network isolation, Private DNS mapping, and comprehensive defense readiness for all 15 project concepts.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7118" y="4600575"/>
            <a:ext cx="211931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38BDF8"/>
                </a:solidFill>
                <a:latin typeface="JetBrains Mono"/>
              </a:rPr>
              <a:t>PROJECT 24CC3046-P086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84043" y="4600575"/>
            <a:ext cx="2976562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JetBrains Mono"/>
              </a:rPr>
              <a:t>TEAMS T086 &amp; T188 • 8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